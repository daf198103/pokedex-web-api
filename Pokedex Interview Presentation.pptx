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embeddedFontLst>
    <p:embeddedFont>
      <p:font typeface="Inter" panose="02000503000000020004" pitchFamily="34" charset="0"/>
      <p:regular r:id="rId15"/>
      <p:bold r:id="rId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font" Target="fonts/font1.fntdata"/><Relationship Id="rId16"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goal: browse PokeAPI data, sync it locally, customize it. 5 minutes slides, then live demo, then code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one story end to end. Public: browse and detail. Protected: sync and local CRUD. Terms: mass = weight, skills = abilities, category = species genus.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business rules can be unit-tested with mocks and do not know about HTTP or the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ready for why: TTL, JWT vs sessions, comma-separated columns vs join tables (trade-off: simple now, harder to query by tag).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honestly how TDD was applied: tests first for use-case rules (sync preserves custom fields, version conflicts). [Add your own commit-history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browser console open to show zero warnings. Have the backend running before the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your own task-API prompt, sample output and corrections here (e.g. entities returned instead of DTOs, missing ownership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the panel into the repository. Be ready to explain any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4202F"/>
                </a:solidFill>
                <a:latin typeface="Inter" pitchFamily="34" charset="0"/>
                <a:ea typeface="Inter" pitchFamily="34" charset="-122"/>
                <a:cs typeface="Inter"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580"/>
            <a:ext cx="10566400" cy="4480620"/>
          </a:xfrm>
          <a:prstGeom prst="rect">
            <a:avLst/>
          </a:prstGeom>
          <a:noFill/>
          <a:ln/>
        </p:spPr>
        <p:txBody>
          <a:bodyPr wrap="square" lIns="0" tIns="0" rIns="0" bIns="0" rtlCol="0" anchor="t"/>
          <a:lstStyle>
            <a:lvl1pPr algn="l" indent="0" marL="0">
              <a:lnSpc>
                <a:spcPct val="140000"/>
              </a:lnSpc>
              <a:buNone/>
              <a:defRPr lang="en-US" sz="1600" dirty="0">
                <a:solidFill>
                  <a:srgbClr val="14202F"/>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4202F"/>
                </a:solidFill>
                <a:latin typeface="Inter" pitchFamily="34" charset="0"/>
                <a:ea typeface="Inter" pitchFamily="34" charset="-122"/>
                <a:cs typeface="Inter"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580"/>
            <a:ext cx="10566400" cy="4480620"/>
          </a:xfrm>
          <a:prstGeom prst="rect">
            <a:avLst/>
          </a:prstGeom>
          <a:noFill/>
          <a:ln/>
        </p:spPr>
        <p:txBody>
          <a:bodyPr wrap="square" lIns="0" tIns="0" rIns="0" bIns="0" rtlCol="0" anchor="t"/>
          <a:lstStyle>
            <a:lvl1pPr algn="l" indent="0" marL="0">
              <a:lnSpc>
                <a:spcPct val="140000"/>
              </a:lnSpc>
              <a:buNone/>
              <a:defRPr lang="en-US" sz="1600" dirty="0">
                <a:solidFill>
                  <a:srgbClr val="14202F"/>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812800" y="1950839"/>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F6B3D"/>
                </a:solidFill>
                <a:latin typeface="Inter" pitchFamily="34" charset="0"/>
                <a:ea typeface="Inter" pitchFamily="34" charset="-122"/>
                <a:cs typeface="Inter" pitchFamily="34" charset="-120"/>
              </a:rPr>
              <a:t>Java + Vue technical interview</a:t>
            </a:r>
            <a:endParaRPr lang="en-US" sz="1600" dirty="0"/>
          </a:p>
        </p:txBody>
      </p:sp>
      <p:sp>
        <p:nvSpPr>
          <p:cNvPr id="3" name="Text 1"/>
          <p:cNvSpPr/>
          <p:nvPr>
            <p:ph type="title"/>
          </p:nvPr>
        </p:nvSpPr>
        <p:spPr>
          <a:xfrm>
            <a:off x="812800" y="2438499"/>
            <a:ext cx="10883392" cy="1518841"/>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F5F3EE"/>
                </a:solidFill>
                <a:latin typeface="Inter" pitchFamily="34" charset="0"/>
                <a:ea typeface="Inter" pitchFamily="34" charset="-122"/>
                <a:cs typeface="Inter" pitchFamily="34" charset="-120"/>
              </a:rPr>
              <a:t>Pokédex: a Clean Architecture full-stack app</a:t>
            </a:r>
            <a:endParaRPr lang="en-US" sz="5600" dirty="0"/>
          </a:p>
        </p:txBody>
      </p:sp>
      <p:sp>
        <p:nvSpPr>
          <p:cNvPr id="4" name="Text 2"/>
          <p:cNvSpPr/>
          <p:nvPr/>
        </p:nvSpPr>
        <p:spPr>
          <a:xfrm>
            <a:off x="812800" y="4135140"/>
            <a:ext cx="10883392"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A9B6C8"/>
                </a:solidFill>
                <a:latin typeface="Inter" pitchFamily="34" charset="0"/>
                <a:ea typeface="Inter" pitchFamily="34" charset="-122"/>
                <a:cs typeface="Inter" pitchFamily="34" charset="-120"/>
              </a:rPr>
              <a:t>Spring Boot 3 · Vue 3 · TDD · GenAI-assisted delivery</a:t>
            </a:r>
            <a:endParaRPr lang="en-US" sz="1800" dirty="0"/>
          </a:p>
        </p:txBody>
      </p:sp>
      <p:sp>
        <p:nvSpPr>
          <p:cNvPr id="5" name="Text 3"/>
          <p:cNvSpPr/>
          <p:nvPr/>
        </p:nvSpPr>
        <p:spPr>
          <a:xfrm>
            <a:off x="812800" y="46583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6C8"/>
                </a:solidFill>
                <a:latin typeface="Inter" pitchFamily="34" charset="0"/>
                <a:ea typeface="Inter" pitchFamily="34" charset="-122"/>
                <a:cs typeface="Inter" pitchFamily="34" charset="-120"/>
              </a:rPr>
              <a:t>[David Alves França] · [10/24/26]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02F"/>
                </a:solidFill>
                <a:latin typeface="Inter" pitchFamily="34" charset="0"/>
                <a:ea typeface="Inter" pitchFamily="34" charset="-122"/>
                <a:cs typeface="Inter" pitchFamily="34" charset="-120"/>
              </a:rPr>
              <a:t>User stories, endpoints and screens</a:t>
            </a:r>
            <a:endParaRPr lang="en-US" sz="3200" dirty="0"/>
          </a:p>
        </p:txBody>
      </p:sp>
      <p:sp>
        <p:nvSpPr>
          <p:cNvPr id="3" name="Shape 1"/>
          <p:cNvSpPr/>
          <p:nvPr/>
        </p:nvSpPr>
        <p:spPr>
          <a:xfrm>
            <a:off x="812800" y="2095996"/>
            <a:ext cx="10566400" cy="0"/>
          </a:xfrm>
          <a:prstGeom prst="line">
            <a:avLst/>
          </a:prstGeom>
          <a:noFill/>
          <a:ln w="6350">
            <a:solidFill>
              <a:srgbClr val="D6D1C4"/>
            </a:solidFill>
            <a:prstDash val="solid"/>
          </a:ln>
        </p:spPr>
      </p:sp>
      <p:sp>
        <p:nvSpPr>
          <p:cNvPr id="4" name="Text 2"/>
          <p:cNvSpPr/>
          <p:nvPr/>
        </p:nvSpPr>
        <p:spPr>
          <a:xfrm>
            <a:off x="812800" y="1704280"/>
            <a:ext cx="470916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02F"/>
                </a:solidFill>
                <a:latin typeface="Inter" pitchFamily="34" charset="0"/>
                <a:ea typeface="Inter" pitchFamily="34" charset="-122"/>
                <a:cs typeface="Inter" pitchFamily="34" charset="-120"/>
              </a:rPr>
              <a:t>GET /api/pokemon?page&amp;size</a:t>
            </a:r>
            <a:endParaRPr lang="en-US" sz="1400" dirty="0"/>
          </a:p>
        </p:txBody>
      </p:sp>
      <p:sp>
        <p:nvSpPr>
          <p:cNvPr id="5" name="Text 3"/>
          <p:cNvSpPr/>
          <p:nvPr/>
        </p:nvSpPr>
        <p:spPr>
          <a:xfrm>
            <a:off x="5588000" y="1704280"/>
            <a:ext cx="596493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6573"/>
                </a:solidFill>
                <a:latin typeface="Inter" pitchFamily="34" charset="0"/>
                <a:ea typeface="Inter" pitchFamily="34" charset="-122"/>
                <a:cs typeface="Inter" pitchFamily="34" charset="-120"/>
              </a:rPr>
              <a:t>Browse grid + pagination</a:t>
            </a:r>
            <a:endParaRPr lang="en-US" sz="1400" dirty="0"/>
          </a:p>
        </p:txBody>
      </p:sp>
      <p:sp>
        <p:nvSpPr>
          <p:cNvPr id="6" name="Shape 4"/>
          <p:cNvSpPr/>
          <p:nvPr/>
        </p:nvSpPr>
        <p:spPr>
          <a:xfrm>
            <a:off x="812800" y="2630587"/>
            <a:ext cx="10566400" cy="0"/>
          </a:xfrm>
          <a:prstGeom prst="line">
            <a:avLst/>
          </a:prstGeom>
          <a:noFill/>
          <a:ln w="6350">
            <a:solidFill>
              <a:srgbClr val="D6D1C4"/>
            </a:solidFill>
            <a:prstDash val="solid"/>
          </a:ln>
        </p:spPr>
      </p:sp>
      <p:sp>
        <p:nvSpPr>
          <p:cNvPr id="7" name="Text 5"/>
          <p:cNvSpPr/>
          <p:nvPr/>
        </p:nvSpPr>
        <p:spPr>
          <a:xfrm>
            <a:off x="812800" y="2238871"/>
            <a:ext cx="470916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02F"/>
                </a:solidFill>
                <a:latin typeface="Inter" pitchFamily="34" charset="0"/>
                <a:ea typeface="Inter" pitchFamily="34" charset="-122"/>
                <a:cs typeface="Inter" pitchFamily="34" charset="-120"/>
              </a:rPr>
              <a:t>GET /api/pokemon/{idOrName}</a:t>
            </a:r>
            <a:endParaRPr lang="en-US" sz="1400" dirty="0"/>
          </a:p>
        </p:txBody>
      </p:sp>
      <p:sp>
        <p:nvSpPr>
          <p:cNvPr id="8" name="Text 6"/>
          <p:cNvSpPr/>
          <p:nvPr/>
        </p:nvSpPr>
        <p:spPr>
          <a:xfrm>
            <a:off x="5588000" y="2238871"/>
            <a:ext cx="596493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6573"/>
                </a:solidFill>
                <a:latin typeface="Inter" pitchFamily="34" charset="0"/>
                <a:ea typeface="Inter" pitchFamily="34" charset="-122"/>
                <a:cs typeface="Inter" pitchFamily="34" charset="-120"/>
              </a:rPr>
              <a:t>Detail + evolution tree</a:t>
            </a:r>
            <a:endParaRPr lang="en-US" sz="1400" dirty="0"/>
          </a:p>
        </p:txBody>
      </p:sp>
      <p:sp>
        <p:nvSpPr>
          <p:cNvPr id="9" name="Shape 7"/>
          <p:cNvSpPr/>
          <p:nvPr/>
        </p:nvSpPr>
        <p:spPr>
          <a:xfrm>
            <a:off x="812800" y="3165177"/>
            <a:ext cx="10566400" cy="0"/>
          </a:xfrm>
          <a:prstGeom prst="line">
            <a:avLst/>
          </a:prstGeom>
          <a:noFill/>
          <a:ln w="6350">
            <a:solidFill>
              <a:srgbClr val="D6D1C4"/>
            </a:solidFill>
            <a:prstDash val="solid"/>
          </a:ln>
        </p:spPr>
      </p:sp>
      <p:sp>
        <p:nvSpPr>
          <p:cNvPr id="10" name="Text 8"/>
          <p:cNvSpPr/>
          <p:nvPr/>
        </p:nvSpPr>
        <p:spPr>
          <a:xfrm>
            <a:off x="812800" y="2773462"/>
            <a:ext cx="470916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02F"/>
                </a:solidFill>
                <a:latin typeface="Inter" pitchFamily="34" charset="0"/>
                <a:ea typeface="Inter" pitchFamily="34" charset="-122"/>
                <a:cs typeface="Inter" pitchFamily="34" charset="-120"/>
              </a:rPr>
              <a:t>POST /api/pokemon/{id}/sync</a:t>
            </a:r>
            <a:endParaRPr lang="en-US" sz="1400" dirty="0"/>
          </a:p>
        </p:txBody>
      </p:sp>
      <p:sp>
        <p:nvSpPr>
          <p:cNvPr id="11" name="Text 9"/>
          <p:cNvSpPr/>
          <p:nvPr/>
        </p:nvSpPr>
        <p:spPr>
          <a:xfrm>
            <a:off x="5588000" y="2773462"/>
            <a:ext cx="596493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6573"/>
                </a:solidFill>
                <a:latin typeface="Inter" pitchFamily="34" charset="0"/>
                <a:ea typeface="Inter" pitchFamily="34" charset="-122"/>
                <a:cs typeface="Inter" pitchFamily="34" charset="-120"/>
              </a:rPr>
              <a:t>Sync button</a:t>
            </a:r>
            <a:endParaRPr lang="en-US" sz="1400" dirty="0"/>
          </a:p>
        </p:txBody>
      </p:sp>
      <p:sp>
        <p:nvSpPr>
          <p:cNvPr id="12" name="Shape 10"/>
          <p:cNvSpPr/>
          <p:nvPr/>
        </p:nvSpPr>
        <p:spPr>
          <a:xfrm>
            <a:off x="812800" y="3699768"/>
            <a:ext cx="10566400" cy="0"/>
          </a:xfrm>
          <a:prstGeom prst="line">
            <a:avLst/>
          </a:prstGeom>
          <a:noFill/>
          <a:ln w="6350">
            <a:solidFill>
              <a:srgbClr val="D6D1C4"/>
            </a:solidFill>
            <a:prstDash val="solid"/>
          </a:ln>
        </p:spPr>
      </p:sp>
      <p:sp>
        <p:nvSpPr>
          <p:cNvPr id="13" name="Text 11"/>
          <p:cNvSpPr/>
          <p:nvPr/>
        </p:nvSpPr>
        <p:spPr>
          <a:xfrm>
            <a:off x="812800" y="3308052"/>
            <a:ext cx="470916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02F"/>
                </a:solidFill>
                <a:latin typeface="Inter" pitchFamily="34" charset="0"/>
                <a:ea typeface="Inter" pitchFamily="34" charset="-122"/>
                <a:cs typeface="Inter" pitchFamily="34" charset="-120"/>
              </a:rPr>
              <a:t>GET · PUT · DELETE /api/local/pokemon</a:t>
            </a:r>
            <a:endParaRPr lang="en-US" sz="1400" dirty="0"/>
          </a:p>
        </p:txBody>
      </p:sp>
      <p:sp>
        <p:nvSpPr>
          <p:cNvPr id="14" name="Text 12"/>
          <p:cNvSpPr/>
          <p:nvPr/>
        </p:nvSpPr>
        <p:spPr>
          <a:xfrm>
            <a:off x="5588000" y="3308052"/>
            <a:ext cx="596493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6573"/>
                </a:solidFill>
                <a:latin typeface="Inter" pitchFamily="34" charset="0"/>
                <a:ea typeface="Inter" pitchFamily="34" charset="-122"/>
                <a:cs typeface="Inter" pitchFamily="34" charset="-120"/>
              </a:rPr>
              <a:t>Collection + edit form</a:t>
            </a:r>
            <a:endParaRPr lang="en-US" sz="1400" dirty="0"/>
          </a:p>
        </p:txBody>
      </p:sp>
      <p:sp>
        <p:nvSpPr>
          <p:cNvPr id="15" name="Shape 13"/>
          <p:cNvSpPr/>
          <p:nvPr/>
        </p:nvSpPr>
        <p:spPr>
          <a:xfrm>
            <a:off x="812800" y="4234359"/>
            <a:ext cx="10566400" cy="0"/>
          </a:xfrm>
          <a:prstGeom prst="line">
            <a:avLst/>
          </a:prstGeom>
          <a:noFill/>
          <a:ln w="6350">
            <a:solidFill>
              <a:srgbClr val="D6D1C4"/>
            </a:solidFill>
            <a:prstDash val="solid"/>
          </a:ln>
        </p:spPr>
      </p:sp>
      <p:sp>
        <p:nvSpPr>
          <p:cNvPr id="16" name="Text 14"/>
          <p:cNvSpPr/>
          <p:nvPr/>
        </p:nvSpPr>
        <p:spPr>
          <a:xfrm>
            <a:off x="812800" y="3842643"/>
            <a:ext cx="470916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02F"/>
                </a:solidFill>
                <a:latin typeface="Inter" pitchFamily="34" charset="0"/>
                <a:ea typeface="Inter" pitchFamily="34" charset="-122"/>
                <a:cs typeface="Inter" pitchFamily="34" charset="-120"/>
              </a:rPr>
              <a:t>POST /api/auth/register · login</a:t>
            </a:r>
            <a:endParaRPr lang="en-US" sz="1400" dirty="0"/>
          </a:p>
        </p:txBody>
      </p:sp>
      <p:sp>
        <p:nvSpPr>
          <p:cNvPr id="17" name="Text 15"/>
          <p:cNvSpPr/>
          <p:nvPr/>
        </p:nvSpPr>
        <p:spPr>
          <a:xfrm>
            <a:off x="5588000" y="3842643"/>
            <a:ext cx="596493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6573"/>
                </a:solidFill>
                <a:latin typeface="Inter" pitchFamily="34" charset="0"/>
                <a:ea typeface="Inter" pitchFamily="34" charset="-122"/>
                <a:cs typeface="Inter" pitchFamily="34" charset="-120"/>
              </a:rPr>
              <a:t>Sign in, protected routes</a:t>
            </a:r>
            <a:endParaRPr lang="en-US" sz="1400" dirty="0"/>
          </a:p>
        </p:txBody>
      </p:sp>
      <p:sp>
        <p:nvSpPr>
          <p:cNvPr id="18" name="Text 16"/>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nter" pitchFamily="34" charset="0"/>
                <a:ea typeface="Inter" pitchFamily="34" charset="-122"/>
                <a:cs typeface="Inter" pitchFamily="34" charset="-120"/>
              </a:rPr>
              <a:t>Pokédex · technical interview</a:t>
            </a:r>
            <a:endParaRPr lang="en-US" sz="1200" dirty="0"/>
          </a:p>
        </p:txBody>
      </p:sp>
      <p:sp>
        <p:nvSpPr>
          <p:cNvPr id="19" name="Text 17"/>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3"/>
                </a:solidFill>
                <a:latin typeface="Inter" pitchFamily="34" charset="0"/>
                <a:ea typeface="Inter" pitchFamily="34" charset="-122"/>
                <a:cs typeface="Inter"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5F3EE"/>
                </a:solidFill>
                <a:latin typeface="Inter" pitchFamily="34" charset="0"/>
                <a:ea typeface="Inter" pitchFamily="34" charset="-122"/>
                <a:cs typeface="Inter" pitchFamily="34" charset="-120"/>
              </a:rPr>
              <a:t>Clean Architecture: dependencies point inward</a:t>
            </a:r>
            <a:endParaRPr lang="en-US" sz="3200" dirty="0"/>
          </a:p>
        </p:txBody>
      </p:sp>
      <p:sp>
        <p:nvSpPr>
          <p:cNvPr id="3" name="Shape 1"/>
          <p:cNvSpPr/>
          <p:nvPr/>
        </p:nvSpPr>
        <p:spPr>
          <a:xfrm>
            <a:off x="815975" y="1567755"/>
            <a:ext cx="2520950" cy="1534021"/>
          </a:xfrm>
          <a:prstGeom prst="roundRect">
            <a:avLst>
              <a:gd name="adj" fmla="val 6416"/>
            </a:avLst>
          </a:prstGeom>
          <a:solidFill>
            <a:srgbClr val="18283F"/>
          </a:solidFill>
          <a:ln w="6350">
            <a:solidFill>
              <a:srgbClr val="2A3D5A"/>
            </a:solidFill>
            <a:prstDash val="solid"/>
          </a:ln>
        </p:spPr>
      </p:sp>
      <p:sp>
        <p:nvSpPr>
          <p:cNvPr id="4" name="Text 2"/>
          <p:cNvSpPr/>
          <p:nvPr/>
        </p:nvSpPr>
        <p:spPr>
          <a:xfrm>
            <a:off x="1047750" y="1799530"/>
            <a:ext cx="211912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F6B3D"/>
                </a:solidFill>
                <a:latin typeface="Inter" pitchFamily="34" charset="0"/>
                <a:ea typeface="Inter" pitchFamily="34" charset="-122"/>
                <a:cs typeface="Inter" pitchFamily="34" charset="-120"/>
              </a:rPr>
              <a:t>Domain</a:t>
            </a:r>
            <a:endParaRPr lang="en-US" sz="1800" dirty="0"/>
          </a:p>
        </p:txBody>
      </p:sp>
      <p:sp>
        <p:nvSpPr>
          <p:cNvPr id="5" name="Text 3"/>
          <p:cNvSpPr/>
          <p:nvPr/>
        </p:nvSpPr>
        <p:spPr>
          <a:xfrm>
            <a:off x="1047750" y="2149971"/>
            <a:ext cx="2119122"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A9B6C8"/>
                </a:solidFill>
                <a:latin typeface="Inter" pitchFamily="34" charset="0"/>
                <a:ea typeface="Inter" pitchFamily="34" charset="-122"/>
                <a:cs typeface="Inter" pitchFamily="34" charset="-120"/>
              </a:rPr>
              <a:t>Records and exceptions. No framework code.</a:t>
            </a:r>
            <a:endParaRPr lang="en-US" sz="1400" dirty="0"/>
          </a:p>
        </p:txBody>
      </p:sp>
      <p:sp>
        <p:nvSpPr>
          <p:cNvPr id="6" name="Shape 4"/>
          <p:cNvSpPr/>
          <p:nvPr/>
        </p:nvSpPr>
        <p:spPr>
          <a:xfrm>
            <a:off x="3495675" y="1567755"/>
            <a:ext cx="2520950" cy="1534021"/>
          </a:xfrm>
          <a:prstGeom prst="roundRect">
            <a:avLst>
              <a:gd name="adj" fmla="val 6416"/>
            </a:avLst>
          </a:prstGeom>
          <a:solidFill>
            <a:srgbClr val="18283F"/>
          </a:solidFill>
          <a:ln w="6350">
            <a:solidFill>
              <a:srgbClr val="2A3D5A"/>
            </a:solidFill>
            <a:prstDash val="solid"/>
          </a:ln>
        </p:spPr>
      </p:sp>
      <p:sp>
        <p:nvSpPr>
          <p:cNvPr id="7" name="Text 5"/>
          <p:cNvSpPr/>
          <p:nvPr/>
        </p:nvSpPr>
        <p:spPr>
          <a:xfrm>
            <a:off x="3727450" y="1799530"/>
            <a:ext cx="211912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F6B3D"/>
                </a:solidFill>
                <a:latin typeface="Inter" pitchFamily="34" charset="0"/>
                <a:ea typeface="Inter" pitchFamily="34" charset="-122"/>
                <a:cs typeface="Inter" pitchFamily="34" charset="-120"/>
              </a:rPr>
              <a:t>Application</a:t>
            </a:r>
            <a:endParaRPr lang="en-US" sz="1800" dirty="0"/>
          </a:p>
        </p:txBody>
      </p:sp>
      <p:sp>
        <p:nvSpPr>
          <p:cNvPr id="8" name="Text 6"/>
          <p:cNvSpPr/>
          <p:nvPr/>
        </p:nvSpPr>
        <p:spPr>
          <a:xfrm>
            <a:off x="3727450" y="2149971"/>
            <a:ext cx="2119122"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A9B6C8"/>
                </a:solidFill>
                <a:latin typeface="Inter" pitchFamily="34" charset="0"/>
                <a:ea typeface="Inter" pitchFamily="34" charset="-122"/>
                <a:cs typeface="Inter" pitchFamily="34" charset="-120"/>
              </a:rPr>
              <a:t>Use cases and ports. Plain Java, no Spring or JPA.</a:t>
            </a:r>
            <a:endParaRPr lang="en-US" sz="1400" dirty="0"/>
          </a:p>
        </p:txBody>
      </p:sp>
      <p:sp>
        <p:nvSpPr>
          <p:cNvPr id="9" name="Shape 7"/>
          <p:cNvSpPr/>
          <p:nvPr/>
        </p:nvSpPr>
        <p:spPr>
          <a:xfrm>
            <a:off x="6175375" y="1567755"/>
            <a:ext cx="2520950" cy="1534021"/>
          </a:xfrm>
          <a:prstGeom prst="roundRect">
            <a:avLst>
              <a:gd name="adj" fmla="val 6416"/>
            </a:avLst>
          </a:prstGeom>
          <a:solidFill>
            <a:srgbClr val="18283F"/>
          </a:solidFill>
          <a:ln w="6350">
            <a:solidFill>
              <a:srgbClr val="2A3D5A"/>
            </a:solidFill>
            <a:prstDash val="solid"/>
          </a:ln>
        </p:spPr>
      </p:sp>
      <p:sp>
        <p:nvSpPr>
          <p:cNvPr id="10" name="Text 8"/>
          <p:cNvSpPr/>
          <p:nvPr/>
        </p:nvSpPr>
        <p:spPr>
          <a:xfrm>
            <a:off x="6407150" y="1799530"/>
            <a:ext cx="211912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F6B3D"/>
                </a:solidFill>
                <a:latin typeface="Inter" pitchFamily="34" charset="0"/>
                <a:ea typeface="Inter" pitchFamily="34" charset="-122"/>
                <a:cs typeface="Inter" pitchFamily="34" charset="-120"/>
              </a:rPr>
              <a:t>Infrastructure</a:t>
            </a:r>
            <a:endParaRPr lang="en-US" sz="1800" dirty="0"/>
          </a:p>
        </p:txBody>
      </p:sp>
      <p:sp>
        <p:nvSpPr>
          <p:cNvPr id="11" name="Text 9"/>
          <p:cNvSpPr/>
          <p:nvPr/>
        </p:nvSpPr>
        <p:spPr>
          <a:xfrm>
            <a:off x="6407150" y="2149971"/>
            <a:ext cx="2119122"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A9B6C8"/>
                </a:solidFill>
                <a:latin typeface="Inter" pitchFamily="34" charset="0"/>
                <a:ea typeface="Inter" pitchFamily="34" charset="-122"/>
                <a:cs typeface="Inter" pitchFamily="34" charset="-120"/>
              </a:rPr>
              <a:t>PokeAPI client, JPA, JWT, cache, config.</a:t>
            </a:r>
            <a:endParaRPr lang="en-US" sz="1400" dirty="0"/>
          </a:p>
        </p:txBody>
      </p:sp>
      <p:sp>
        <p:nvSpPr>
          <p:cNvPr id="12" name="Shape 10"/>
          <p:cNvSpPr/>
          <p:nvPr/>
        </p:nvSpPr>
        <p:spPr>
          <a:xfrm>
            <a:off x="8855075" y="1567755"/>
            <a:ext cx="2520950" cy="1534021"/>
          </a:xfrm>
          <a:prstGeom prst="roundRect">
            <a:avLst>
              <a:gd name="adj" fmla="val 6416"/>
            </a:avLst>
          </a:prstGeom>
          <a:solidFill>
            <a:srgbClr val="18283F"/>
          </a:solidFill>
          <a:ln w="6350">
            <a:solidFill>
              <a:srgbClr val="2A3D5A"/>
            </a:solidFill>
            <a:prstDash val="solid"/>
          </a:ln>
        </p:spPr>
      </p:sp>
      <p:sp>
        <p:nvSpPr>
          <p:cNvPr id="13" name="Text 11"/>
          <p:cNvSpPr/>
          <p:nvPr/>
        </p:nvSpPr>
        <p:spPr>
          <a:xfrm>
            <a:off x="9086850" y="1799530"/>
            <a:ext cx="211912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F6B3D"/>
                </a:solidFill>
                <a:latin typeface="Inter" pitchFamily="34" charset="0"/>
                <a:ea typeface="Inter" pitchFamily="34" charset="-122"/>
                <a:cs typeface="Inter" pitchFamily="34" charset="-120"/>
              </a:rPr>
              <a:t>Presentation</a:t>
            </a:r>
            <a:endParaRPr lang="en-US" sz="1800" dirty="0"/>
          </a:p>
        </p:txBody>
      </p:sp>
      <p:sp>
        <p:nvSpPr>
          <p:cNvPr id="14" name="Text 12"/>
          <p:cNvSpPr/>
          <p:nvPr/>
        </p:nvSpPr>
        <p:spPr>
          <a:xfrm>
            <a:off x="9086850" y="2149971"/>
            <a:ext cx="2119122"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A9B6C8"/>
                </a:solidFill>
                <a:latin typeface="Inter" pitchFamily="34" charset="0"/>
                <a:ea typeface="Inter" pitchFamily="34" charset="-122"/>
                <a:cs typeface="Inter" pitchFamily="34" charset="-120"/>
              </a:rPr>
              <a:t>Controllers, DTOs, RFC 7807 errors.</a:t>
            </a:r>
            <a:endParaRPr lang="en-US" sz="1400" dirty="0"/>
          </a:p>
        </p:txBody>
      </p:sp>
      <p:sp>
        <p:nvSpPr>
          <p:cNvPr id="15" name="Text 13"/>
          <p:cNvSpPr/>
          <p:nvPr/>
        </p:nvSpPr>
        <p:spPr>
          <a:xfrm>
            <a:off x="812800" y="3409752"/>
            <a:ext cx="1088339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9B6C8"/>
                </a:solidFill>
                <a:latin typeface="Inter" pitchFamily="34" charset="0"/>
                <a:ea typeface="Inter" pitchFamily="34" charset="-122"/>
                <a:cs typeface="Inter" pitchFamily="34" charset="-120"/>
              </a:rPr>
              <a:t>Ports such as PokemonCatalogPort live in the application layer. Adapters implement them outside, and UseCaseConfig wires everything together.</a:t>
            </a:r>
            <a:endParaRPr lang="en-US" sz="1600" dirty="0"/>
          </a:p>
        </p:txBody>
      </p:sp>
      <p:sp>
        <p:nvSpPr>
          <p:cNvPr id="16" name="Text 14"/>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6C8"/>
                </a:solidFill>
                <a:latin typeface="Inter" pitchFamily="34" charset="0"/>
                <a:ea typeface="Inter" pitchFamily="34" charset="-122"/>
                <a:cs typeface="Inter" pitchFamily="34" charset="-120"/>
              </a:rPr>
              <a:t>Pokédex · technical interview</a:t>
            </a:r>
            <a:endParaRPr lang="en-US" sz="1200" dirty="0"/>
          </a:p>
        </p:txBody>
      </p:sp>
      <p:sp>
        <p:nvSpPr>
          <p:cNvPr id="17" name="Text 15"/>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B6C8"/>
                </a:solidFill>
                <a:latin typeface="Inter" pitchFamily="34" charset="0"/>
                <a:ea typeface="Inter" pitchFamily="34" charset="-122"/>
                <a:cs typeface="Inter"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02F"/>
                </a:solidFill>
                <a:latin typeface="Inter" pitchFamily="34" charset="0"/>
                <a:ea typeface="Inter" pitchFamily="34" charset="-122"/>
                <a:cs typeface="Inter" pitchFamily="34" charset="-120"/>
              </a:rPr>
              <a:t>Design decisions I can defend</a:t>
            </a:r>
            <a:endParaRPr lang="en-US" sz="3200" dirty="0"/>
          </a:p>
        </p:txBody>
      </p:sp>
      <p:sp>
        <p:nvSpPr>
          <p:cNvPr id="3" name="Shape 1"/>
          <p:cNvSpPr/>
          <p:nvPr/>
        </p:nvSpPr>
        <p:spPr>
          <a:xfrm>
            <a:off x="815975" y="1567755"/>
            <a:ext cx="3414117" cy="1294011"/>
          </a:xfrm>
          <a:prstGeom prst="roundRect">
            <a:avLst>
              <a:gd name="adj" fmla="val 7606"/>
            </a:avLst>
          </a:prstGeom>
          <a:solidFill>
            <a:srgbClr val="FFFFFF"/>
          </a:solidFill>
          <a:ln w="6350">
            <a:solidFill>
              <a:srgbClr val="E2DED3"/>
            </a:solidFill>
            <a:prstDash val="solid"/>
          </a:ln>
        </p:spPr>
      </p:sp>
      <p:sp>
        <p:nvSpPr>
          <p:cNvPr id="4" name="Text 2"/>
          <p:cNvSpPr/>
          <p:nvPr/>
        </p:nvSpPr>
        <p:spPr>
          <a:xfrm>
            <a:off x="1047750" y="1799530"/>
            <a:ext cx="3039084"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C8431A"/>
                </a:solidFill>
                <a:latin typeface="Inter" pitchFamily="34" charset="0"/>
                <a:ea typeface="Inter" pitchFamily="34" charset="-122"/>
                <a:cs typeface="Inter" pitchFamily="34" charset="-120"/>
              </a:rPr>
              <a:t>Caching + concurrency</a:t>
            </a:r>
            <a:endParaRPr lang="en-US" sz="1800" dirty="0"/>
          </a:p>
        </p:txBody>
      </p:sp>
      <p:sp>
        <p:nvSpPr>
          <p:cNvPr id="5" name="Text 3"/>
          <p:cNvSpPr/>
          <p:nvPr/>
        </p:nvSpPr>
        <p:spPr>
          <a:xfrm>
            <a:off x="1047750" y="2149971"/>
            <a:ext cx="3039084"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B6573"/>
                </a:solidFill>
                <a:latin typeface="Inter" pitchFamily="34" charset="0"/>
                <a:ea typeface="Inter" pitchFamily="34" charset="-122"/>
                <a:cs typeface="Inter" pitchFamily="34" charset="-120"/>
              </a:rPr>
              <a:t>Caffeine, 1 h TTL; list items fetched on virtual threads.</a:t>
            </a:r>
            <a:endParaRPr lang="en-US" sz="1400" dirty="0"/>
          </a:p>
        </p:txBody>
      </p:sp>
      <p:sp>
        <p:nvSpPr>
          <p:cNvPr id="6" name="Shape 4"/>
          <p:cNvSpPr/>
          <p:nvPr/>
        </p:nvSpPr>
        <p:spPr>
          <a:xfrm>
            <a:off x="4388842" y="1567755"/>
            <a:ext cx="3414216" cy="1294011"/>
          </a:xfrm>
          <a:prstGeom prst="roundRect">
            <a:avLst>
              <a:gd name="adj" fmla="val 7606"/>
            </a:avLst>
          </a:prstGeom>
          <a:solidFill>
            <a:srgbClr val="FFFFFF"/>
          </a:solidFill>
          <a:ln w="6350">
            <a:solidFill>
              <a:srgbClr val="E2DED3"/>
            </a:solidFill>
            <a:prstDash val="solid"/>
          </a:ln>
        </p:spPr>
      </p:sp>
      <p:sp>
        <p:nvSpPr>
          <p:cNvPr id="7" name="Text 5"/>
          <p:cNvSpPr/>
          <p:nvPr/>
        </p:nvSpPr>
        <p:spPr>
          <a:xfrm>
            <a:off x="4620617" y="1799530"/>
            <a:ext cx="303918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C8431A"/>
                </a:solidFill>
                <a:latin typeface="Inter" pitchFamily="34" charset="0"/>
                <a:ea typeface="Inter" pitchFamily="34" charset="-122"/>
                <a:cs typeface="Inter" pitchFamily="34" charset="-120"/>
              </a:rPr>
              <a:t>Idempotent sync</a:t>
            </a:r>
            <a:endParaRPr lang="en-US" sz="1800" dirty="0"/>
          </a:p>
        </p:txBody>
      </p:sp>
      <p:sp>
        <p:nvSpPr>
          <p:cNvPr id="8" name="Text 6"/>
          <p:cNvSpPr/>
          <p:nvPr/>
        </p:nvSpPr>
        <p:spPr>
          <a:xfrm>
            <a:off x="4620617" y="2149971"/>
            <a:ext cx="3039186"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B6573"/>
                </a:solidFill>
                <a:latin typeface="Inter" pitchFamily="34" charset="0"/>
                <a:ea typeface="Inter" pitchFamily="34" charset="-122"/>
                <a:cs typeface="Inter" pitchFamily="34" charset="-120"/>
              </a:rPr>
              <a:t>Upsert refreshes PokeAPI fields, keeps your custom ones.</a:t>
            </a:r>
            <a:endParaRPr lang="en-US" sz="1400" dirty="0"/>
          </a:p>
        </p:txBody>
      </p:sp>
      <p:sp>
        <p:nvSpPr>
          <p:cNvPr id="9" name="Shape 7"/>
          <p:cNvSpPr/>
          <p:nvPr/>
        </p:nvSpPr>
        <p:spPr>
          <a:xfrm>
            <a:off x="7961809" y="1567755"/>
            <a:ext cx="3414216" cy="1294011"/>
          </a:xfrm>
          <a:prstGeom prst="roundRect">
            <a:avLst>
              <a:gd name="adj" fmla="val 7606"/>
            </a:avLst>
          </a:prstGeom>
          <a:solidFill>
            <a:srgbClr val="FFFFFF"/>
          </a:solidFill>
          <a:ln w="6350">
            <a:solidFill>
              <a:srgbClr val="E2DED3"/>
            </a:solidFill>
            <a:prstDash val="solid"/>
          </a:ln>
        </p:spPr>
      </p:sp>
      <p:sp>
        <p:nvSpPr>
          <p:cNvPr id="10" name="Text 8"/>
          <p:cNvSpPr/>
          <p:nvPr/>
        </p:nvSpPr>
        <p:spPr>
          <a:xfrm>
            <a:off x="8193584" y="1799530"/>
            <a:ext cx="303918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C8431A"/>
                </a:solidFill>
                <a:latin typeface="Inter" pitchFamily="34" charset="0"/>
                <a:ea typeface="Inter" pitchFamily="34" charset="-122"/>
                <a:cs typeface="Inter" pitchFamily="34" charset="-120"/>
              </a:rPr>
              <a:t>Optimistic locking</a:t>
            </a:r>
            <a:endParaRPr lang="en-US" sz="1800" dirty="0"/>
          </a:p>
        </p:txBody>
      </p:sp>
      <p:sp>
        <p:nvSpPr>
          <p:cNvPr id="11" name="Text 9"/>
          <p:cNvSpPr/>
          <p:nvPr/>
        </p:nvSpPr>
        <p:spPr>
          <a:xfrm>
            <a:off x="8193584" y="2149971"/>
            <a:ext cx="3039186"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B6573"/>
                </a:solidFill>
                <a:latin typeface="Inter" pitchFamily="34" charset="0"/>
                <a:ea typeface="Inter" pitchFamily="34" charset="-122"/>
                <a:cs typeface="Inter" pitchFamily="34" charset="-120"/>
              </a:rPr>
              <a:t>@Version plus version in PUT gives 409 on stale writes.</a:t>
            </a:r>
            <a:endParaRPr lang="en-US" sz="1400" dirty="0"/>
          </a:p>
        </p:txBody>
      </p:sp>
      <p:sp>
        <p:nvSpPr>
          <p:cNvPr id="12" name="Shape 10"/>
          <p:cNvSpPr/>
          <p:nvPr/>
        </p:nvSpPr>
        <p:spPr>
          <a:xfrm>
            <a:off x="815975" y="3172916"/>
            <a:ext cx="3414117" cy="1294011"/>
          </a:xfrm>
          <a:prstGeom prst="roundRect">
            <a:avLst>
              <a:gd name="adj" fmla="val 7606"/>
            </a:avLst>
          </a:prstGeom>
          <a:solidFill>
            <a:srgbClr val="FFFFFF"/>
          </a:solidFill>
          <a:ln w="6350">
            <a:solidFill>
              <a:srgbClr val="E2DED3"/>
            </a:solidFill>
            <a:prstDash val="solid"/>
          </a:ln>
        </p:spPr>
      </p:sp>
      <p:sp>
        <p:nvSpPr>
          <p:cNvPr id="13" name="Text 11"/>
          <p:cNvSpPr/>
          <p:nvPr/>
        </p:nvSpPr>
        <p:spPr>
          <a:xfrm>
            <a:off x="1047750" y="3404691"/>
            <a:ext cx="3039084"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C8431A"/>
                </a:solidFill>
                <a:latin typeface="Inter" pitchFamily="34" charset="0"/>
                <a:ea typeface="Inter" pitchFamily="34" charset="-122"/>
                <a:cs typeface="Inter" pitchFamily="34" charset="-120"/>
              </a:rPr>
              <a:t>Stateless security</a:t>
            </a:r>
            <a:endParaRPr lang="en-US" sz="1800" dirty="0"/>
          </a:p>
        </p:txBody>
      </p:sp>
      <p:sp>
        <p:nvSpPr>
          <p:cNvPr id="14" name="Text 12"/>
          <p:cNvSpPr/>
          <p:nvPr/>
        </p:nvSpPr>
        <p:spPr>
          <a:xfrm>
            <a:off x="1047750" y="3755132"/>
            <a:ext cx="3039084"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B6573"/>
                </a:solidFill>
                <a:latin typeface="Inter" pitchFamily="34" charset="0"/>
                <a:ea typeface="Inter" pitchFamily="34" charset="-122"/>
                <a:cs typeface="Inter" pitchFamily="34" charset="-120"/>
              </a:rPr>
              <a:t>JWT, BCrypt, CORS limited to the frontend origin.</a:t>
            </a:r>
            <a:endParaRPr lang="en-US" sz="1400" dirty="0"/>
          </a:p>
        </p:txBody>
      </p:sp>
      <p:sp>
        <p:nvSpPr>
          <p:cNvPr id="15" name="Shape 13"/>
          <p:cNvSpPr/>
          <p:nvPr/>
        </p:nvSpPr>
        <p:spPr>
          <a:xfrm>
            <a:off x="4388842" y="3172916"/>
            <a:ext cx="3414216" cy="1294011"/>
          </a:xfrm>
          <a:prstGeom prst="roundRect">
            <a:avLst>
              <a:gd name="adj" fmla="val 7606"/>
            </a:avLst>
          </a:prstGeom>
          <a:solidFill>
            <a:srgbClr val="FFFFFF"/>
          </a:solidFill>
          <a:ln w="6350">
            <a:solidFill>
              <a:srgbClr val="E2DED3"/>
            </a:solidFill>
            <a:prstDash val="solid"/>
          </a:ln>
        </p:spPr>
      </p:sp>
      <p:sp>
        <p:nvSpPr>
          <p:cNvPr id="16" name="Text 14"/>
          <p:cNvSpPr/>
          <p:nvPr/>
        </p:nvSpPr>
        <p:spPr>
          <a:xfrm>
            <a:off x="4620617" y="3404691"/>
            <a:ext cx="303918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C8431A"/>
                </a:solidFill>
                <a:latin typeface="Inter" pitchFamily="34" charset="0"/>
                <a:ea typeface="Inter" pitchFamily="34" charset="-122"/>
                <a:cs typeface="Inter" pitchFamily="34" charset="-120"/>
              </a:rPr>
              <a:t>Consistent errors</a:t>
            </a:r>
            <a:endParaRPr lang="en-US" sz="1800" dirty="0"/>
          </a:p>
        </p:txBody>
      </p:sp>
      <p:sp>
        <p:nvSpPr>
          <p:cNvPr id="17" name="Text 15"/>
          <p:cNvSpPr/>
          <p:nvPr/>
        </p:nvSpPr>
        <p:spPr>
          <a:xfrm>
            <a:off x="4620617" y="3755132"/>
            <a:ext cx="3039186"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B6573"/>
                </a:solidFill>
                <a:latin typeface="Inter" pitchFamily="34" charset="0"/>
                <a:ea typeface="Inter" pitchFamily="34" charset="-122"/>
                <a:cs typeface="Inter" pitchFamily="34" charset="-120"/>
              </a:rPr>
              <a:t>RFC 7807 ProblemDetail: 400, 401, 404, 409, 502.</a:t>
            </a:r>
            <a:endParaRPr lang="en-US" sz="1400" dirty="0"/>
          </a:p>
        </p:txBody>
      </p:sp>
      <p:sp>
        <p:nvSpPr>
          <p:cNvPr id="18" name="Shape 16"/>
          <p:cNvSpPr/>
          <p:nvPr/>
        </p:nvSpPr>
        <p:spPr>
          <a:xfrm>
            <a:off x="7961809" y="3172916"/>
            <a:ext cx="3414216" cy="1294011"/>
          </a:xfrm>
          <a:prstGeom prst="roundRect">
            <a:avLst>
              <a:gd name="adj" fmla="val 7606"/>
            </a:avLst>
          </a:prstGeom>
          <a:solidFill>
            <a:srgbClr val="FFFFFF"/>
          </a:solidFill>
          <a:ln w="6350">
            <a:solidFill>
              <a:srgbClr val="E2DED3"/>
            </a:solidFill>
            <a:prstDash val="solid"/>
          </a:ln>
        </p:spPr>
      </p:sp>
      <p:sp>
        <p:nvSpPr>
          <p:cNvPr id="19" name="Text 17"/>
          <p:cNvSpPr/>
          <p:nvPr/>
        </p:nvSpPr>
        <p:spPr>
          <a:xfrm>
            <a:off x="8193584" y="3404691"/>
            <a:ext cx="303918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C8431A"/>
                </a:solidFill>
                <a:latin typeface="Inter" pitchFamily="34" charset="0"/>
                <a:ea typeface="Inter" pitchFamily="34" charset="-122"/>
                <a:cs typeface="Inter" pitchFamily="34" charset="-120"/>
              </a:rPr>
              <a:t>Frontend state</a:t>
            </a:r>
            <a:endParaRPr lang="en-US" sz="1800" dirty="0"/>
          </a:p>
        </p:txBody>
      </p:sp>
      <p:sp>
        <p:nvSpPr>
          <p:cNvPr id="20" name="Text 18"/>
          <p:cNvSpPr/>
          <p:nvPr/>
        </p:nvSpPr>
        <p:spPr>
          <a:xfrm>
            <a:off x="8193584" y="3755132"/>
            <a:ext cx="3039186"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B6573"/>
                </a:solidFill>
                <a:latin typeface="Inter" pitchFamily="34" charset="0"/>
                <a:ea typeface="Inter" pitchFamily="34" charset="-122"/>
                <a:cs typeface="Inter" pitchFamily="34" charset="-120"/>
              </a:rPr>
              <a:t>TanStack Query for server data, Pinia for session only.</a:t>
            </a:r>
            <a:endParaRPr lang="en-US" sz="1400" dirty="0"/>
          </a:p>
        </p:txBody>
      </p:sp>
      <p:sp>
        <p:nvSpPr>
          <p:cNvPr id="21" name="Text 19"/>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nter" pitchFamily="34" charset="0"/>
                <a:ea typeface="Inter" pitchFamily="34" charset="-122"/>
                <a:cs typeface="Inter" pitchFamily="34" charset="-120"/>
              </a:rPr>
              <a:t>Pokédex · technical interview</a:t>
            </a:r>
            <a:endParaRPr lang="en-US" sz="1200" dirty="0"/>
          </a:p>
        </p:txBody>
      </p:sp>
      <p:sp>
        <p:nvSpPr>
          <p:cNvPr id="22" name="Text 20"/>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3"/>
                </a:solidFill>
                <a:latin typeface="Inter" pitchFamily="34" charset="0"/>
                <a:ea typeface="Inter" pitchFamily="34" charset="-122"/>
                <a:cs typeface="Inter"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2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5F3EE"/>
                </a:solidFill>
                <a:latin typeface="Inter" pitchFamily="34" charset="0"/>
                <a:ea typeface="Inter" pitchFamily="34" charset="-122"/>
                <a:cs typeface="Inter" pitchFamily="34" charset="-120"/>
              </a:rPr>
              <a:t>Testing strategy</a:t>
            </a:r>
            <a:endParaRPr lang="en-US" sz="3200" dirty="0"/>
          </a:p>
        </p:txBody>
      </p:sp>
      <p:sp>
        <p:nvSpPr>
          <p:cNvPr id="3" name="Shape 1"/>
          <p:cNvSpPr/>
          <p:nvPr/>
        </p:nvSpPr>
        <p:spPr>
          <a:xfrm>
            <a:off x="815975" y="1567755"/>
            <a:ext cx="5200650" cy="2528491"/>
          </a:xfrm>
          <a:prstGeom prst="roundRect">
            <a:avLst>
              <a:gd name="adj" fmla="val 3893"/>
            </a:avLst>
          </a:prstGeom>
          <a:solidFill>
            <a:srgbClr val="18283F"/>
          </a:solidFill>
          <a:ln w="6350">
            <a:solidFill>
              <a:srgbClr val="2A3D5A"/>
            </a:solidFill>
            <a:prstDash val="solid"/>
          </a:ln>
        </p:spPr>
      </p:sp>
      <p:sp>
        <p:nvSpPr>
          <p:cNvPr id="4" name="Text 2"/>
          <p:cNvSpPr/>
          <p:nvPr/>
        </p:nvSpPr>
        <p:spPr>
          <a:xfrm>
            <a:off x="1047750" y="1799530"/>
            <a:ext cx="487921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F6B3D"/>
                </a:solidFill>
                <a:latin typeface="Inter" pitchFamily="34" charset="0"/>
                <a:ea typeface="Inter" pitchFamily="34" charset="-122"/>
                <a:cs typeface="Inter" pitchFamily="34" charset="-120"/>
              </a:rPr>
              <a:t>Backend</a:t>
            </a:r>
            <a:endParaRPr lang="en-US" sz="1800" dirty="0"/>
          </a:p>
        </p:txBody>
      </p:sp>
      <p:sp>
        <p:nvSpPr>
          <p:cNvPr id="5" name="Text 3"/>
          <p:cNvSpPr/>
          <p:nvPr/>
        </p:nvSpPr>
        <p:spPr>
          <a:xfrm>
            <a:off x="1099820" y="2149971"/>
            <a:ext cx="4820285" cy="1739900"/>
          </a:xfrm>
          <a:prstGeom prst="rect">
            <a:avLst/>
          </a:prstGeom>
          <a:noFill/>
          <a:ln/>
        </p:spPr>
        <p:txBody>
          <a:bodyPr wrap="square" lIns="0" tIns="0" rIns="0" bIns="0" rtlCol="0" anchor="t">
            <a:normAutofit/>
          </a:bodyPr>
          <a:lstStyle/>
          <a:p>
            <a:pPr algn="l" marL="176530" indent="-176530">
              <a:lnSpc>
                <a:spcPts val="2250"/>
              </a:lnSpc>
              <a:buSzPct val="100000"/>
              <a:buChar char="•"/>
            </a:pPr>
            <a:r>
              <a:rPr lang="en-US" sz="1500" dirty="0">
                <a:solidFill>
                  <a:srgbClr val="A9B6C8"/>
                </a:solidFill>
                <a:latin typeface="Inter" pitchFamily="34" charset="0"/>
                <a:ea typeface="Inter" pitchFamily="34" charset="-122"/>
                <a:cs typeface="Inter" pitchFamily="34" charset="-120"/>
              </a:rPr>
              <a:t>Unit tests (Mockito) for every use case</a:t>
            </a:r>
            <a:endParaRPr lang="en-US" sz="1500" dirty="0"/>
          </a:p>
          <a:p>
            <a:pPr algn="l" marL="176530" indent="-176530">
              <a:lnSpc>
                <a:spcPts val="2250"/>
              </a:lnSpc>
              <a:buSzPct val="100000"/>
              <a:buChar char="•"/>
            </a:pPr>
            <a:r>
              <a:rPr lang="en-US" sz="1500" dirty="0">
                <a:solidFill>
                  <a:srgbClr val="A9B6C8"/>
                </a:solidFill>
                <a:latin typeface="Inter" pitchFamily="34" charset="0"/>
                <a:ea typeface="Inter" pitchFamily="34" charset="-122"/>
                <a:cs typeface="Inter" pitchFamily="34" charset="-120"/>
              </a:rPr>
              <a:t>Adapter tests with MockRestServiceServer, incl. 404 and 5xx</a:t>
            </a:r>
            <a:endParaRPr lang="en-US" sz="1500" dirty="0"/>
          </a:p>
          <a:p>
            <a:pPr algn="l" marL="176530" indent="-176530">
              <a:lnSpc>
                <a:spcPts val="2250"/>
              </a:lnSpc>
              <a:buSzPct val="100000"/>
              <a:buChar char="•"/>
            </a:pPr>
            <a:r>
              <a:rPr lang="en-US" sz="1500" dirty="0">
                <a:solidFill>
                  <a:srgbClr val="A9B6C8"/>
                </a:solidFill>
                <a:latin typeface="Inter" pitchFamily="34" charset="0"/>
                <a:ea typeface="Inter" pitchFamily="34" charset="-122"/>
                <a:cs typeface="Inter" pitchFamily="34" charset="-120"/>
              </a:rPr>
              <a:t>MockMvc integration test of the full auth, sync, edit, delete flow</a:t>
            </a:r>
            <a:endParaRPr lang="en-US" sz="1500" dirty="0"/>
          </a:p>
          <a:p>
            <a:pPr algn="l" marL="176530" indent="-176530">
              <a:lnSpc>
                <a:spcPts val="2250"/>
              </a:lnSpc>
              <a:buSzPct val="100000"/>
              <a:buChar char="•"/>
            </a:pPr>
            <a:r>
              <a:rPr lang="en-US" sz="1500" dirty="0">
                <a:solidFill>
                  <a:srgbClr val="A9B6C8"/>
                </a:solidFill>
                <a:latin typeface="Inter" pitchFamily="34" charset="0"/>
                <a:ea typeface="Inter" pitchFamily="34" charset="-122"/>
                <a:cs typeface="Inter" pitchFamily="34" charset="-120"/>
              </a:rPr>
              <a:t>JaCoCo gate at 60% line coverage</a:t>
            </a:r>
            <a:endParaRPr lang="en-US" sz="1500" dirty="0"/>
          </a:p>
        </p:txBody>
      </p:sp>
      <p:sp>
        <p:nvSpPr>
          <p:cNvPr id="6" name="Shape 4"/>
          <p:cNvSpPr/>
          <p:nvPr/>
        </p:nvSpPr>
        <p:spPr>
          <a:xfrm>
            <a:off x="6175375" y="1567755"/>
            <a:ext cx="5200650" cy="2528491"/>
          </a:xfrm>
          <a:prstGeom prst="roundRect">
            <a:avLst>
              <a:gd name="adj" fmla="val 3893"/>
            </a:avLst>
          </a:prstGeom>
          <a:solidFill>
            <a:srgbClr val="18283F"/>
          </a:solidFill>
          <a:ln w="6350">
            <a:solidFill>
              <a:srgbClr val="2A3D5A"/>
            </a:solidFill>
            <a:prstDash val="solid"/>
          </a:ln>
        </p:spPr>
      </p:sp>
      <p:sp>
        <p:nvSpPr>
          <p:cNvPr id="7" name="Text 5"/>
          <p:cNvSpPr/>
          <p:nvPr/>
        </p:nvSpPr>
        <p:spPr>
          <a:xfrm>
            <a:off x="6407150" y="1799530"/>
            <a:ext cx="487921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3FB8AF"/>
                </a:solidFill>
                <a:latin typeface="Inter" pitchFamily="34" charset="0"/>
                <a:ea typeface="Inter" pitchFamily="34" charset="-122"/>
                <a:cs typeface="Inter" pitchFamily="34" charset="-120"/>
              </a:rPr>
              <a:t>Frontend</a:t>
            </a:r>
            <a:endParaRPr lang="en-US" sz="1800" dirty="0"/>
          </a:p>
        </p:txBody>
      </p:sp>
      <p:sp>
        <p:nvSpPr>
          <p:cNvPr id="8" name="Text 6"/>
          <p:cNvSpPr/>
          <p:nvPr/>
        </p:nvSpPr>
        <p:spPr>
          <a:xfrm>
            <a:off x="6459220" y="2149971"/>
            <a:ext cx="4820285" cy="1168400"/>
          </a:xfrm>
          <a:prstGeom prst="rect">
            <a:avLst/>
          </a:prstGeom>
          <a:noFill/>
          <a:ln/>
        </p:spPr>
        <p:txBody>
          <a:bodyPr wrap="square" lIns="0" tIns="0" rIns="0" bIns="0" rtlCol="0" anchor="t">
            <a:normAutofit/>
          </a:bodyPr>
          <a:lstStyle/>
          <a:p>
            <a:pPr algn="l" marL="176530" indent="-176530">
              <a:lnSpc>
                <a:spcPts val="2250"/>
              </a:lnSpc>
              <a:buSzPct val="100000"/>
              <a:buChar char="•"/>
            </a:pPr>
            <a:r>
              <a:rPr lang="en-US" sz="1500" dirty="0">
                <a:solidFill>
                  <a:srgbClr val="A9B6C8"/>
                </a:solidFill>
                <a:latin typeface="Inter" pitchFamily="34" charset="0"/>
                <a:ea typeface="Inter" pitchFamily="34" charset="-122"/>
                <a:cs typeface="Inter" pitchFamily="34" charset="-120"/>
              </a:rPr>
              <a:t>Vitest + Vue Test Utils: 17 tests</a:t>
            </a:r>
            <a:endParaRPr lang="en-US" sz="1500" dirty="0"/>
          </a:p>
          <a:p>
            <a:pPr algn="l" marL="176530" indent="-176530">
              <a:lnSpc>
                <a:spcPts val="2250"/>
              </a:lnSpc>
              <a:buSzPct val="100000"/>
              <a:buChar char="•"/>
            </a:pPr>
            <a:r>
              <a:rPr lang="en-US" sz="1500" dirty="0">
                <a:solidFill>
                  <a:srgbClr val="A9B6C8"/>
                </a:solidFill>
                <a:latin typeface="Inter" pitchFamily="34" charset="0"/>
                <a:ea typeface="Inter" pitchFamily="34" charset="-122"/>
                <a:cs typeface="Inter" pitchFamily="34" charset="-120"/>
              </a:rPr>
              <a:t>API error mapping, auth store, login form</a:t>
            </a:r>
            <a:endParaRPr lang="en-US" sz="1500" dirty="0"/>
          </a:p>
          <a:p>
            <a:pPr algn="l" marL="176530" indent="-176530">
              <a:lnSpc>
                <a:spcPts val="2250"/>
              </a:lnSpc>
              <a:buSzPct val="100000"/>
              <a:buChar char="•"/>
            </a:pPr>
            <a:r>
              <a:rPr lang="en-US" sz="1500" dirty="0">
                <a:solidFill>
                  <a:srgbClr val="A9B6C8"/>
                </a:solidFill>
                <a:latin typeface="Inter" pitchFamily="34" charset="0"/>
                <a:ea typeface="Inter" pitchFamily="34" charset="-122"/>
                <a:cs typeface="Inter" pitchFamily="34" charset="-120"/>
              </a:rPr>
              <a:t>Components: pagination, card, evolution tree</a:t>
            </a:r>
            <a:endParaRPr lang="en-US" sz="1500" dirty="0"/>
          </a:p>
          <a:p>
            <a:pPr algn="l" marL="176530" indent="-176530">
              <a:lnSpc>
                <a:spcPts val="2250"/>
              </a:lnSpc>
              <a:buSzPct val="100000"/>
              <a:buChar char="•"/>
            </a:pPr>
            <a:r>
              <a:rPr lang="en-US" sz="1500" dirty="0">
                <a:solidFill>
                  <a:srgbClr val="A9B6C8"/>
                </a:solidFill>
                <a:latin typeface="Inter" pitchFamily="34" charset="0"/>
                <a:ea typeface="Inter" pitchFamily="34" charset="-122"/>
                <a:cs typeface="Inter" pitchFamily="34" charset="-120"/>
              </a:rPr>
              <a:t>vue-tsc, ESLint and production build all pass</a:t>
            </a:r>
            <a:endParaRPr lang="en-US" sz="1500" dirty="0"/>
          </a:p>
        </p:txBody>
      </p:sp>
      <p:sp>
        <p:nvSpPr>
          <p:cNvPr id="9" name="Text 7"/>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6C8"/>
                </a:solidFill>
                <a:latin typeface="Inter" pitchFamily="34" charset="0"/>
                <a:ea typeface="Inter" pitchFamily="34" charset="-122"/>
                <a:cs typeface="Inter" pitchFamily="34" charset="-120"/>
              </a:rPr>
              <a:t>Pokédex · technical interview</a:t>
            </a:r>
            <a:endParaRPr lang="en-US" sz="1200" dirty="0"/>
          </a:p>
        </p:txBody>
      </p:sp>
      <p:sp>
        <p:nvSpPr>
          <p:cNvPr id="10" name="Text 8"/>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B6C8"/>
                </a:solidFill>
                <a:latin typeface="Inter" pitchFamily="34" charset="0"/>
                <a:ea typeface="Inter" pitchFamily="34" charset="-122"/>
                <a:cs typeface="Inter"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02F"/>
                </a:solidFill>
                <a:latin typeface="Inter" pitchFamily="34" charset="0"/>
                <a:ea typeface="Inter" pitchFamily="34" charset="-122"/>
                <a:cs typeface="Inter" pitchFamily="34" charset="-120"/>
              </a:rPr>
              <a:t>Live demo script</a:t>
            </a:r>
            <a:endParaRPr lang="en-US" sz="3200" dirty="0"/>
          </a:p>
        </p:txBody>
      </p:sp>
      <p:sp>
        <p:nvSpPr>
          <p:cNvPr id="3" name="Text 1"/>
          <p:cNvSpPr/>
          <p:nvPr/>
        </p:nvSpPr>
        <p:spPr>
          <a:xfrm>
            <a:off x="836216" y="1564580"/>
            <a:ext cx="10851594" cy="2443063"/>
          </a:xfrm>
          <a:prstGeom prst="rect">
            <a:avLst/>
          </a:prstGeom>
          <a:noFill/>
          <a:ln/>
        </p:spPr>
        <p:txBody>
          <a:bodyPr wrap="square" lIns="0" tIns="0" rIns="0" bIns="0" rtlCol="0" anchor="t">
            <a:normAutofit/>
          </a:bodyPr>
          <a:lstStyle/>
          <a:p>
            <a:pPr algn="l" marL="255984" indent="-255984">
              <a:lnSpc>
                <a:spcPts val="2720"/>
              </a:lnSpc>
              <a:buSzPct val="100000"/>
              <a:buFontTx/>
              <a:buAutoNum type="arabicPeriod" startAt="1"/>
            </a:pPr>
            <a:r>
              <a:rPr lang="en-US" sz="1700" dirty="0">
                <a:solidFill>
                  <a:srgbClr val="14202F"/>
                </a:solidFill>
                <a:latin typeface="Inter" pitchFamily="34" charset="0"/>
                <a:ea typeface="Inter" pitchFamily="34" charset="-122"/>
                <a:cs typeface="Inter" pitchFamily="34" charset="-120"/>
              </a:rPr>
              <a:t>Sign in as demo / demo1234</a:t>
            </a:r>
            <a:endParaRPr lang="en-US" sz="1700" dirty="0"/>
          </a:p>
          <a:p>
            <a:pPr algn="l" marL="255984" indent="-255984">
              <a:lnSpc>
                <a:spcPts val="2720"/>
              </a:lnSpc>
              <a:buSzPct val="100000"/>
              <a:buFontTx/>
              <a:buAutoNum type="arabicPeriod" startAt="1"/>
            </a:pPr>
            <a:r>
              <a:rPr lang="en-US" sz="1700" dirty="0">
                <a:solidFill>
                  <a:srgbClr val="14202F"/>
                </a:solidFill>
                <a:latin typeface="Inter" pitchFamily="34" charset="0"/>
                <a:ea typeface="Inter" pitchFamily="34" charset="-122"/>
                <a:cs typeface="Inter" pitchFamily="34" charset="-120"/>
              </a:rPr>
              <a:t>Browse, paginate, search “eevee”</a:t>
            </a:r>
            <a:endParaRPr lang="en-US" sz="1700" dirty="0"/>
          </a:p>
          <a:p>
            <a:pPr algn="l" marL="255984" indent="-255984">
              <a:lnSpc>
                <a:spcPts val="2720"/>
              </a:lnSpc>
              <a:buSzPct val="100000"/>
              <a:buFontTx/>
              <a:buAutoNum type="arabicPeriod" startAt="1"/>
            </a:pPr>
            <a:r>
              <a:rPr lang="en-US" sz="1700" dirty="0">
                <a:solidFill>
                  <a:srgbClr val="14202F"/>
                </a:solidFill>
                <a:latin typeface="Inter" pitchFamily="34" charset="0"/>
                <a:ea typeface="Inter" pitchFamily="34" charset="-122"/>
                <a:cs typeface="Inter" pitchFamily="34" charset="-120"/>
              </a:rPr>
              <a:t>Detail: stats and branching evolution</a:t>
            </a:r>
            <a:endParaRPr lang="en-US" sz="1700" dirty="0"/>
          </a:p>
          <a:p>
            <a:pPr algn="l" marL="255984" indent="-255984">
              <a:lnSpc>
                <a:spcPts val="2720"/>
              </a:lnSpc>
              <a:buSzPct val="100000"/>
              <a:buFontTx/>
              <a:buAutoNum type="arabicPeriod" startAt="1"/>
            </a:pPr>
            <a:r>
              <a:rPr lang="en-US" sz="1700" dirty="0">
                <a:solidFill>
                  <a:srgbClr val="14202F"/>
                </a:solidFill>
                <a:latin typeface="Inter" pitchFamily="34" charset="0"/>
                <a:ea typeface="Inter" pitchFamily="34" charset="-122"/>
                <a:cs typeface="Inter" pitchFamily="34" charset="-120"/>
              </a:rPr>
              <a:t>Sync it to my collection</a:t>
            </a:r>
            <a:endParaRPr lang="en-US" sz="1700" dirty="0"/>
          </a:p>
          <a:p>
            <a:pPr algn="l" marL="255984" indent="-255984">
              <a:lnSpc>
                <a:spcPts val="2720"/>
              </a:lnSpc>
              <a:buSzPct val="100000"/>
              <a:buFontTx/>
              <a:buAutoNum type="arabicPeriod" startAt="1"/>
            </a:pPr>
            <a:r>
              <a:rPr lang="en-US" sz="1700" dirty="0">
                <a:solidFill>
                  <a:srgbClr val="14202F"/>
                </a:solidFill>
                <a:latin typeface="Inter" pitchFamily="34" charset="0"/>
                <a:ea typeface="Inter" pitchFamily="34" charset="-122"/>
                <a:cs typeface="Inter" pitchFamily="34" charset="-120"/>
              </a:rPr>
              <a:t>Edit region and tags, save</a:t>
            </a:r>
            <a:endParaRPr lang="en-US" sz="1700" dirty="0"/>
          </a:p>
          <a:p>
            <a:pPr algn="l" marL="255984" indent="-255984">
              <a:lnSpc>
                <a:spcPts val="2720"/>
              </a:lnSpc>
              <a:buSzPct val="100000"/>
              <a:buFontTx/>
              <a:buAutoNum type="arabicPeriod" startAt="1"/>
            </a:pPr>
            <a:r>
              <a:rPr lang="en-US" sz="1700" dirty="0">
                <a:solidFill>
                  <a:srgbClr val="14202F"/>
                </a:solidFill>
                <a:latin typeface="Inter" pitchFamily="34" charset="0"/>
                <a:ea typeface="Inter" pitchFamily="34" charset="-122"/>
                <a:cs typeface="Inter" pitchFamily="34" charset="-120"/>
              </a:rPr>
              <a:t>Trigger 400, 404 and 409 errors</a:t>
            </a:r>
            <a:endParaRPr lang="en-US" sz="1700" dirty="0"/>
          </a:p>
          <a:p>
            <a:pPr algn="l" marL="255984" indent="-255984">
              <a:lnSpc>
                <a:spcPts val="2720"/>
              </a:lnSpc>
              <a:buSzPct val="100000"/>
              <a:buFontTx/>
              <a:buAutoNum type="arabicPeriod" startAt="1"/>
            </a:pPr>
            <a:r>
              <a:rPr lang="en-US" sz="1700" dirty="0">
                <a:solidFill>
                  <a:srgbClr val="14202F"/>
                </a:solidFill>
                <a:latin typeface="Inter" pitchFamily="34" charset="0"/>
                <a:ea typeface="Inter" pitchFamily="34" charset="-122"/>
                <a:cs typeface="Inter" pitchFamily="34" charset="-120"/>
              </a:rPr>
              <a:t>Show Swagger UI and the test run</a:t>
            </a:r>
            <a:endParaRPr lang="en-US" sz="1700" dirty="0"/>
          </a:p>
        </p:txBody>
      </p:sp>
      <p:sp>
        <p:nvSpPr>
          <p:cNvPr id="4" name="Text 2"/>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nter" pitchFamily="34" charset="0"/>
                <a:ea typeface="Inter" pitchFamily="34" charset="-122"/>
                <a:cs typeface="Inter" pitchFamily="34" charset="-120"/>
              </a:rPr>
              <a:t>Pokédex · technical interview</a:t>
            </a:r>
            <a:endParaRPr lang="en-US" sz="1200" dirty="0"/>
          </a:p>
        </p:txBody>
      </p:sp>
      <p:sp>
        <p:nvSpPr>
          <p:cNvPr id="5" name="Text 3"/>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3"/>
                </a:solidFill>
                <a:latin typeface="Inter" pitchFamily="34" charset="0"/>
                <a:ea typeface="Inter" pitchFamily="34" charset="-122"/>
                <a:cs typeface="Inter"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B2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5F3EE"/>
                </a:solidFill>
                <a:latin typeface="Inter" pitchFamily="34" charset="0"/>
                <a:ea typeface="Inter" pitchFamily="34" charset="-122"/>
                <a:cs typeface="Inter" pitchFamily="34" charset="-120"/>
              </a:rPr>
              <a:t>GenAI workflow: prompt, validate, correct</a:t>
            </a:r>
            <a:endParaRPr lang="en-US" sz="3200" dirty="0"/>
          </a:p>
        </p:txBody>
      </p:sp>
      <p:sp>
        <p:nvSpPr>
          <p:cNvPr id="3" name="Shape 1"/>
          <p:cNvSpPr/>
          <p:nvPr/>
        </p:nvSpPr>
        <p:spPr>
          <a:xfrm>
            <a:off x="815975" y="1567755"/>
            <a:ext cx="3414117" cy="1774031"/>
          </a:xfrm>
          <a:prstGeom prst="roundRect">
            <a:avLst>
              <a:gd name="adj" fmla="val 5548"/>
            </a:avLst>
          </a:prstGeom>
          <a:solidFill>
            <a:srgbClr val="18283F"/>
          </a:solidFill>
          <a:ln w="6350">
            <a:solidFill>
              <a:srgbClr val="2A3D5A"/>
            </a:solidFill>
            <a:prstDash val="solid"/>
          </a:ln>
        </p:spPr>
      </p:sp>
      <p:sp>
        <p:nvSpPr>
          <p:cNvPr id="4" name="Text 2"/>
          <p:cNvSpPr/>
          <p:nvPr/>
        </p:nvSpPr>
        <p:spPr>
          <a:xfrm>
            <a:off x="1047750" y="1799530"/>
            <a:ext cx="3039084"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F6B3D"/>
                </a:solidFill>
                <a:latin typeface="Inter" pitchFamily="34" charset="0"/>
                <a:ea typeface="Inter" pitchFamily="34" charset="-122"/>
                <a:cs typeface="Inter" pitchFamily="34" charset="-120"/>
              </a:rPr>
              <a:t>Prompt</a:t>
            </a:r>
            <a:endParaRPr lang="en-US" sz="1800" dirty="0"/>
          </a:p>
        </p:txBody>
      </p:sp>
      <p:sp>
        <p:nvSpPr>
          <p:cNvPr id="5" name="Text 3"/>
          <p:cNvSpPr/>
          <p:nvPr/>
        </p:nvSpPr>
        <p:spPr>
          <a:xfrm>
            <a:off x="1047750" y="2149971"/>
            <a:ext cx="3039084"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A9B6C8"/>
                </a:solidFill>
                <a:latin typeface="Inter" pitchFamily="34" charset="0"/>
                <a:ea typeface="Inter" pitchFamily="34" charset="-122"/>
                <a:cs typeface="Inter" pitchFamily="34" charset="-120"/>
              </a:rPr>
              <a:t>State stack, layers, auth rules, validation, error format and tests up front.</a:t>
            </a:r>
            <a:endParaRPr lang="en-US" sz="1400" dirty="0"/>
          </a:p>
        </p:txBody>
      </p:sp>
      <p:sp>
        <p:nvSpPr>
          <p:cNvPr id="6" name="Shape 4"/>
          <p:cNvSpPr/>
          <p:nvPr/>
        </p:nvSpPr>
        <p:spPr>
          <a:xfrm>
            <a:off x="4388842" y="1567755"/>
            <a:ext cx="3414216" cy="1774031"/>
          </a:xfrm>
          <a:prstGeom prst="roundRect">
            <a:avLst>
              <a:gd name="adj" fmla="val 5548"/>
            </a:avLst>
          </a:prstGeom>
          <a:solidFill>
            <a:srgbClr val="18283F"/>
          </a:solidFill>
          <a:ln w="6350">
            <a:solidFill>
              <a:srgbClr val="2A3D5A"/>
            </a:solidFill>
            <a:prstDash val="solid"/>
          </a:ln>
        </p:spPr>
      </p:sp>
      <p:sp>
        <p:nvSpPr>
          <p:cNvPr id="7" name="Text 5"/>
          <p:cNvSpPr/>
          <p:nvPr/>
        </p:nvSpPr>
        <p:spPr>
          <a:xfrm>
            <a:off x="4620617" y="1799530"/>
            <a:ext cx="303918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3FB8AF"/>
                </a:solidFill>
                <a:latin typeface="Inter" pitchFamily="34" charset="0"/>
                <a:ea typeface="Inter" pitchFamily="34" charset="-122"/>
                <a:cs typeface="Inter" pitchFamily="34" charset="-120"/>
              </a:rPr>
              <a:t>Validate</a:t>
            </a:r>
            <a:endParaRPr lang="en-US" sz="1800" dirty="0"/>
          </a:p>
        </p:txBody>
      </p:sp>
      <p:sp>
        <p:nvSpPr>
          <p:cNvPr id="8" name="Text 6"/>
          <p:cNvSpPr/>
          <p:nvPr/>
        </p:nvSpPr>
        <p:spPr>
          <a:xfrm>
            <a:off x="4620617" y="2149971"/>
            <a:ext cx="3039186"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A9B6C8"/>
                </a:solidFill>
                <a:latin typeface="Inter" pitchFamily="34" charset="0"/>
                <a:ea typeface="Inter" pitchFamily="34" charset="-122"/>
                <a:cs typeface="Inter" pitchFamily="34" charset="-120"/>
              </a:rPr>
              <a:t>Run the build and tests, check authorization (IDOR), N+1 queries, and that dependencies exist.</a:t>
            </a:r>
            <a:endParaRPr lang="en-US" sz="1400" dirty="0"/>
          </a:p>
        </p:txBody>
      </p:sp>
      <p:sp>
        <p:nvSpPr>
          <p:cNvPr id="9" name="Shape 7"/>
          <p:cNvSpPr/>
          <p:nvPr/>
        </p:nvSpPr>
        <p:spPr>
          <a:xfrm>
            <a:off x="7961809" y="1567755"/>
            <a:ext cx="3414216" cy="1774031"/>
          </a:xfrm>
          <a:prstGeom prst="roundRect">
            <a:avLst>
              <a:gd name="adj" fmla="val 5548"/>
            </a:avLst>
          </a:prstGeom>
          <a:solidFill>
            <a:srgbClr val="18283F"/>
          </a:solidFill>
          <a:ln w="6350">
            <a:solidFill>
              <a:srgbClr val="2A3D5A"/>
            </a:solidFill>
            <a:prstDash val="solid"/>
          </a:ln>
        </p:spPr>
      </p:sp>
      <p:sp>
        <p:nvSpPr>
          <p:cNvPr id="10" name="Text 8"/>
          <p:cNvSpPr/>
          <p:nvPr/>
        </p:nvSpPr>
        <p:spPr>
          <a:xfrm>
            <a:off x="8193584" y="1799530"/>
            <a:ext cx="303918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F6B3D"/>
                </a:solidFill>
                <a:latin typeface="Inter" pitchFamily="34" charset="0"/>
                <a:ea typeface="Inter" pitchFamily="34" charset="-122"/>
                <a:cs typeface="Inter" pitchFamily="34" charset="-120"/>
              </a:rPr>
              <a:t>Correct</a:t>
            </a:r>
            <a:endParaRPr lang="en-US" sz="1800" dirty="0"/>
          </a:p>
        </p:txBody>
      </p:sp>
      <p:sp>
        <p:nvSpPr>
          <p:cNvPr id="11" name="Text 9"/>
          <p:cNvSpPr/>
          <p:nvPr/>
        </p:nvSpPr>
        <p:spPr>
          <a:xfrm>
            <a:off x="8193584" y="2149971"/>
            <a:ext cx="3039186" cy="985441"/>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A9B6C8"/>
                </a:solidFill>
                <a:latin typeface="Inter" pitchFamily="34" charset="0"/>
                <a:ea typeface="Inter" pitchFamily="34" charset="-122"/>
                <a:cs typeface="Inter" pitchFamily="34" charset="-120"/>
              </a:rPr>
              <a:t>Compile and type-check caught gaps: missing Node typings, lint warnings, a shell script that skipped directories.</a:t>
            </a:r>
            <a:endParaRPr lang="en-US" sz="1400" dirty="0"/>
          </a:p>
        </p:txBody>
      </p:sp>
      <p:sp>
        <p:nvSpPr>
          <p:cNvPr id="12" name="Text 10"/>
          <p:cNvSpPr/>
          <p:nvPr/>
        </p:nvSpPr>
        <p:spPr>
          <a:xfrm>
            <a:off x="812800" y="3649762"/>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9B6C8"/>
                </a:solidFill>
                <a:latin typeface="Inter" pitchFamily="34" charset="0"/>
                <a:ea typeface="Inter" pitchFamily="34" charset="-122"/>
                <a:cs typeface="Inter" pitchFamily="34" charset="-120"/>
              </a:rPr>
              <a:t>Critical review: never trust generated code until it compiles, passes tests and survives edge cases.</a:t>
            </a:r>
            <a:endParaRPr lang="en-US" sz="1600" dirty="0"/>
          </a:p>
        </p:txBody>
      </p:sp>
      <p:sp>
        <p:nvSpPr>
          <p:cNvPr id="13" name="Text 11"/>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6C8"/>
                </a:solidFill>
                <a:latin typeface="Inter" pitchFamily="34" charset="0"/>
                <a:ea typeface="Inter" pitchFamily="34" charset="-122"/>
                <a:cs typeface="Inter" pitchFamily="34" charset="-120"/>
              </a:rPr>
              <a:t>Pokédex · technical interview</a:t>
            </a:r>
            <a:endParaRPr lang="en-US" sz="1200" dirty="0"/>
          </a:p>
        </p:txBody>
      </p:sp>
      <p:sp>
        <p:nvSpPr>
          <p:cNvPr id="14" name="Text 12"/>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B6C8"/>
                </a:solidFill>
                <a:latin typeface="Inter" pitchFamily="34" charset="0"/>
                <a:ea typeface="Inter" pitchFamily="34" charset="-122"/>
                <a:cs typeface="Inter"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02F"/>
                </a:solidFill>
                <a:latin typeface="Inter" pitchFamily="34" charset="0"/>
                <a:ea typeface="Inter" pitchFamily="34" charset="-122"/>
                <a:cs typeface="Inter" pitchFamily="34" charset="-120"/>
              </a:rPr>
              <a:t>Trade-offs and next steps</a:t>
            </a:r>
            <a:endParaRPr lang="en-US" sz="3200" dirty="0"/>
          </a:p>
        </p:txBody>
      </p:sp>
      <p:sp>
        <p:nvSpPr>
          <p:cNvPr id="3" name="Shape 1"/>
          <p:cNvSpPr/>
          <p:nvPr/>
        </p:nvSpPr>
        <p:spPr>
          <a:xfrm>
            <a:off x="815975" y="1567755"/>
            <a:ext cx="5200650" cy="1294011"/>
          </a:xfrm>
          <a:prstGeom prst="roundRect">
            <a:avLst>
              <a:gd name="adj" fmla="val 7606"/>
            </a:avLst>
          </a:prstGeom>
          <a:solidFill>
            <a:srgbClr val="FFFFFF"/>
          </a:solidFill>
          <a:ln w="6350">
            <a:solidFill>
              <a:srgbClr val="E2DED3"/>
            </a:solidFill>
            <a:prstDash val="solid"/>
          </a:ln>
        </p:spPr>
      </p:sp>
      <p:sp>
        <p:nvSpPr>
          <p:cNvPr id="4" name="Text 2"/>
          <p:cNvSpPr/>
          <p:nvPr/>
        </p:nvSpPr>
        <p:spPr>
          <a:xfrm>
            <a:off x="1047750" y="1799530"/>
            <a:ext cx="487921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C8431A"/>
                </a:solidFill>
                <a:latin typeface="Inter" pitchFamily="34" charset="0"/>
                <a:ea typeface="Inter" pitchFamily="34" charset="-122"/>
                <a:cs typeface="Inter" pitchFamily="34" charset="-120"/>
              </a:rPr>
              <a:t>Known trade-offs</a:t>
            </a:r>
            <a:endParaRPr lang="en-US" sz="1800" dirty="0"/>
          </a:p>
        </p:txBody>
      </p:sp>
      <p:sp>
        <p:nvSpPr>
          <p:cNvPr id="5" name="Text 3"/>
          <p:cNvSpPr/>
          <p:nvPr/>
        </p:nvSpPr>
        <p:spPr>
          <a:xfrm>
            <a:off x="1047750" y="2149971"/>
            <a:ext cx="4879213"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B6573"/>
                </a:solidFill>
                <a:latin typeface="Inter" pitchFamily="34" charset="0"/>
                <a:ea typeface="Inter" pitchFamily="34" charset="-122"/>
                <a:cs typeface="Inter" pitchFamily="34" charset="-120"/>
              </a:rPr>
              <a:t>JWT in localStorage (XSS risk). Abilities and tags stored as comma-separated columns.</a:t>
            </a:r>
            <a:endParaRPr lang="en-US" sz="1400" dirty="0"/>
          </a:p>
        </p:txBody>
      </p:sp>
      <p:sp>
        <p:nvSpPr>
          <p:cNvPr id="6" name="Shape 4"/>
          <p:cNvSpPr/>
          <p:nvPr/>
        </p:nvSpPr>
        <p:spPr>
          <a:xfrm>
            <a:off x="6175375" y="1567755"/>
            <a:ext cx="5200650" cy="1294011"/>
          </a:xfrm>
          <a:prstGeom prst="roundRect">
            <a:avLst>
              <a:gd name="adj" fmla="val 7606"/>
            </a:avLst>
          </a:prstGeom>
          <a:solidFill>
            <a:srgbClr val="FFFFFF"/>
          </a:solidFill>
          <a:ln w="6350">
            <a:solidFill>
              <a:srgbClr val="E2DED3"/>
            </a:solidFill>
            <a:prstDash val="solid"/>
          </a:ln>
        </p:spPr>
      </p:sp>
      <p:sp>
        <p:nvSpPr>
          <p:cNvPr id="7" name="Text 5"/>
          <p:cNvSpPr/>
          <p:nvPr/>
        </p:nvSpPr>
        <p:spPr>
          <a:xfrm>
            <a:off x="6407150" y="1799530"/>
            <a:ext cx="487921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C8431A"/>
                </a:solidFill>
                <a:latin typeface="Inter" pitchFamily="34" charset="0"/>
                <a:ea typeface="Inter" pitchFamily="34" charset="-122"/>
                <a:cs typeface="Inter" pitchFamily="34" charset="-120"/>
              </a:rPr>
              <a:t>Next steps</a:t>
            </a:r>
            <a:endParaRPr lang="en-US" sz="1800" dirty="0"/>
          </a:p>
        </p:txBody>
      </p:sp>
      <p:sp>
        <p:nvSpPr>
          <p:cNvPr id="8" name="Text 6"/>
          <p:cNvSpPr/>
          <p:nvPr/>
        </p:nvSpPr>
        <p:spPr>
          <a:xfrm>
            <a:off x="6407150" y="2149971"/>
            <a:ext cx="4879213"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B6573"/>
                </a:solidFill>
                <a:latin typeface="Inter" pitchFamily="34" charset="0"/>
                <a:ea typeface="Inter" pitchFamily="34" charset="-122"/>
                <a:cs typeface="Inter" pitchFamily="34" charset="-120"/>
              </a:rPr>
              <a:t>Testcontainers with Postgres, correlation-ID logging, refresh tokens or HttpOnly cookie, end-to-end tests.</a:t>
            </a:r>
            <a:endParaRPr lang="en-US" sz="1400" dirty="0"/>
          </a:p>
        </p:txBody>
      </p:sp>
      <p:sp>
        <p:nvSpPr>
          <p:cNvPr id="9" name="Text 7"/>
          <p:cNvSpPr/>
          <p:nvPr/>
        </p:nvSpPr>
        <p:spPr>
          <a:xfrm>
            <a:off x="812800" y="3169741"/>
            <a:ext cx="10883392"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C8431A"/>
                </a:solidFill>
                <a:latin typeface="Inter" pitchFamily="34" charset="0"/>
                <a:ea typeface="Inter" pitchFamily="34" charset="-122"/>
                <a:cs typeface="Inter" pitchFamily="34" charset="-120"/>
              </a:rPr>
              <a:t>Questions and code review</a:t>
            </a:r>
            <a:endParaRPr lang="en-US" sz="2800" dirty="0"/>
          </a:p>
        </p:txBody>
      </p:sp>
      <p:sp>
        <p:nvSpPr>
          <p:cNvPr id="10" name="Text 8"/>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nter" pitchFamily="34" charset="0"/>
                <a:ea typeface="Inter" pitchFamily="34" charset="-122"/>
                <a:cs typeface="Inter" pitchFamily="34" charset="-120"/>
              </a:rPr>
              <a:t>Pokédex · technical interview</a:t>
            </a:r>
            <a:endParaRPr lang="en-US" sz="1200" dirty="0"/>
          </a:p>
        </p:txBody>
      </p:sp>
      <p:sp>
        <p:nvSpPr>
          <p:cNvPr id="11" name="Text 9"/>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3"/>
                </a:solidFill>
                <a:latin typeface="Inter" pitchFamily="34" charset="0"/>
                <a:ea typeface="Inter" pitchFamily="34" charset="-122"/>
                <a:cs typeface="Inter" pitchFamily="34" charset="-120"/>
              </a:rPr>
              <a:t>8</a:t>
            </a:r>
            <a:endParaRPr lang="en-US" sz="1200" dirty="0"/>
          </a:p>
        </p:txBody>
      </p:sp>
    </p:spTree>
  </p:cSld>
  <p:clrMapOvr>
    <a:masterClrMapping/>
  </p:clrMapOvr>
</p:sld>
</file>

<file path=ppt/theme/theme1.xml><?xml version="1.0" encoding="utf-8"?>
<a:theme xmlns:a="http://schemas.openxmlformats.org/drawingml/2006/main" name="Pokedex Interview Presentation">
  <a:themeElements>
    <a:clrScheme name="Pokedex Interview Presentation">
      <a:dk1>
        <a:srgbClr val="14202F"/>
      </a:dk1>
      <a:lt1>
        <a:srgbClr val="F5F3EE"/>
      </a:lt1>
      <a:dk2>
        <a:srgbClr val="4C555F"/>
      </a:dk2>
      <a:lt2>
        <a:srgbClr val="DFDEDB"/>
      </a:lt2>
      <a:accent1>
        <a:srgbClr val="C8431A"/>
      </a:accent1>
      <a:accent2>
        <a:srgbClr val="FF6B3D"/>
      </a:accent2>
      <a:accent3>
        <a:srgbClr val="3FB8AF"/>
      </a:accent3>
      <a:accent4>
        <a:srgbClr val="5B6573"/>
      </a:accent4>
      <a:accent5>
        <a:srgbClr val="A9B6C8"/>
      </a:accent5>
      <a:accent6>
        <a:srgbClr val="9AA0A6"/>
      </a:accent6>
      <a:hlink>
        <a:srgbClr val="0563C1"/>
      </a:hlink>
      <a:folHlink>
        <a:srgbClr val="954F72"/>
      </a:folHlink>
    </a:clrScheme>
    <a:fontScheme name="Pokedex Interview Presentation">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Pokedex Interview Presentation</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Inter
Copyright 2020 The Inter Project Authors (https://github.com/rsms/inter)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2026-10-24T18:04:30Z</dcterms:created>
  <dcterms:modified xsi:type="dcterms:W3CDTF">2026-10-24T18:04:30Z</dcterms:modified>
</cp:coreProperties>
</file>